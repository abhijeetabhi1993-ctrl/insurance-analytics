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4" r:id="rId7"/>
    <p:sldId id="261" r:id="rId8"/>
    <p:sldId id="262" r:id="rId9"/>
    <p:sldId id="263" r:id="rId10"/>
    <p:sldId id="264" r:id="rId11"/>
    <p:sldId id="275" r:id="rId12"/>
    <p:sldId id="265" r:id="rId13"/>
    <p:sldId id="266" r:id="rId14"/>
    <p:sldId id="267" r:id="rId15"/>
    <p:sldId id="268" r:id="rId16"/>
    <p:sldId id="276" r:id="rId17"/>
    <p:sldId id="269" r:id="rId18"/>
    <p:sldId id="270" r:id="rId19"/>
    <p:sldId id="271" r:id="rId20"/>
    <p:sldId id="272" r:id="rId21"/>
    <p:sldId id="273" r:id="rId2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EC30C0E-896E-4A00-B795-D24AAF6FB3E0}" v="3" dt="2025-09-23T11:38:36.1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opala Krishna Ediga" userId="a331a18b93734095" providerId="LiveId" clId="{986D341B-4579-400B-A1B3-16FDE44AE7E6}"/>
    <pc:docChg chg="addSld modSld">
      <pc:chgData name="Gopala Krishna Ediga" userId="a331a18b93734095" providerId="LiveId" clId="{986D341B-4579-400B-A1B3-16FDE44AE7E6}" dt="2025-09-23T11:41:39.700" v="202" actId="14100"/>
      <pc:docMkLst>
        <pc:docMk/>
      </pc:docMkLst>
      <pc:sldChg chg="modSp mod">
        <pc:chgData name="Gopala Krishna Ediga" userId="a331a18b93734095" providerId="LiveId" clId="{986D341B-4579-400B-A1B3-16FDE44AE7E6}" dt="2025-09-23T11:41:39.700" v="202" actId="14100"/>
        <pc:sldMkLst>
          <pc:docMk/>
          <pc:sldMk cId="4032655208" sldId="266"/>
        </pc:sldMkLst>
        <pc:spChg chg="mod">
          <ac:chgData name="Gopala Krishna Ediga" userId="a331a18b93734095" providerId="LiveId" clId="{986D341B-4579-400B-A1B3-16FDE44AE7E6}" dt="2025-09-23T11:41:39.700" v="202" actId="14100"/>
          <ac:spMkLst>
            <pc:docMk/>
            <pc:sldMk cId="4032655208" sldId="266"/>
            <ac:spMk id="3" creationId="{E7C3357B-A441-664B-BDE1-B93DD40CB5B0}"/>
          </ac:spMkLst>
        </pc:spChg>
      </pc:sldChg>
      <pc:sldChg chg="addSp modSp new mod">
        <pc:chgData name="Gopala Krishna Ediga" userId="a331a18b93734095" providerId="LiveId" clId="{986D341B-4579-400B-A1B3-16FDE44AE7E6}" dt="2025-09-23T11:32:07.676" v="7" actId="14100"/>
        <pc:sldMkLst>
          <pc:docMk/>
          <pc:sldMk cId="2572605682" sldId="267"/>
        </pc:sldMkLst>
        <pc:spChg chg="add mod">
          <ac:chgData name="Gopala Krishna Ediga" userId="a331a18b93734095" providerId="LiveId" clId="{986D341B-4579-400B-A1B3-16FDE44AE7E6}" dt="2025-09-23T11:32:07.676" v="7" actId="14100"/>
          <ac:spMkLst>
            <pc:docMk/>
            <pc:sldMk cId="2572605682" sldId="267"/>
            <ac:spMk id="3" creationId="{F10378B4-B592-15BE-CE5D-1E98F88B672F}"/>
          </ac:spMkLst>
        </pc:spChg>
      </pc:sldChg>
      <pc:sldChg chg="addSp modSp new mod">
        <pc:chgData name="Gopala Krishna Ediga" userId="a331a18b93734095" providerId="LiveId" clId="{986D341B-4579-400B-A1B3-16FDE44AE7E6}" dt="2025-09-23T11:32:46.333" v="11" actId="14100"/>
        <pc:sldMkLst>
          <pc:docMk/>
          <pc:sldMk cId="2860099721" sldId="268"/>
        </pc:sldMkLst>
        <pc:spChg chg="add mod">
          <ac:chgData name="Gopala Krishna Ediga" userId="a331a18b93734095" providerId="LiveId" clId="{986D341B-4579-400B-A1B3-16FDE44AE7E6}" dt="2025-09-23T11:32:46.333" v="11" actId="14100"/>
          <ac:spMkLst>
            <pc:docMk/>
            <pc:sldMk cId="2860099721" sldId="268"/>
            <ac:spMk id="3" creationId="{6D240D57-FCDE-C42D-0BCE-0D1D4B7E24D7}"/>
          </ac:spMkLst>
        </pc:spChg>
      </pc:sldChg>
      <pc:sldChg chg="modSp new mod">
        <pc:chgData name="Gopala Krishna Ediga" userId="a331a18b93734095" providerId="LiveId" clId="{986D341B-4579-400B-A1B3-16FDE44AE7E6}" dt="2025-09-23T11:35:17.977" v="38" actId="14100"/>
        <pc:sldMkLst>
          <pc:docMk/>
          <pc:sldMk cId="1361081553" sldId="269"/>
        </pc:sldMkLst>
        <pc:spChg chg="mod">
          <ac:chgData name="Gopala Krishna Ediga" userId="a331a18b93734095" providerId="LiveId" clId="{986D341B-4579-400B-A1B3-16FDE44AE7E6}" dt="2025-09-23T11:35:09.875" v="36" actId="14100"/>
          <ac:spMkLst>
            <pc:docMk/>
            <pc:sldMk cId="1361081553" sldId="269"/>
            <ac:spMk id="2" creationId="{86314856-8DE2-C865-0438-19E8FD650A65}"/>
          </ac:spMkLst>
        </pc:spChg>
        <pc:spChg chg="mod">
          <ac:chgData name="Gopala Krishna Ediga" userId="a331a18b93734095" providerId="LiveId" clId="{986D341B-4579-400B-A1B3-16FDE44AE7E6}" dt="2025-09-23T11:35:17.977" v="38" actId="14100"/>
          <ac:spMkLst>
            <pc:docMk/>
            <pc:sldMk cId="1361081553" sldId="269"/>
            <ac:spMk id="3" creationId="{EA2D73A6-45D8-50E6-00BE-8AA866E2EB5B}"/>
          </ac:spMkLst>
        </pc:spChg>
      </pc:sldChg>
      <pc:sldChg chg="addSp modSp new mod">
        <pc:chgData name="Gopala Krishna Ediga" userId="a331a18b93734095" providerId="LiveId" clId="{986D341B-4579-400B-A1B3-16FDE44AE7E6}" dt="2025-09-23T11:35:52.932" v="42" actId="14100"/>
        <pc:sldMkLst>
          <pc:docMk/>
          <pc:sldMk cId="3916934124" sldId="270"/>
        </pc:sldMkLst>
        <pc:spChg chg="add mod">
          <ac:chgData name="Gopala Krishna Ediga" userId="a331a18b93734095" providerId="LiveId" clId="{986D341B-4579-400B-A1B3-16FDE44AE7E6}" dt="2025-09-23T11:35:52.932" v="42" actId="14100"/>
          <ac:spMkLst>
            <pc:docMk/>
            <pc:sldMk cId="3916934124" sldId="270"/>
            <ac:spMk id="3" creationId="{707B0E0B-C6CF-327A-5C04-637E3D26B23A}"/>
          </ac:spMkLst>
        </pc:spChg>
      </pc:sldChg>
      <pc:sldChg chg="addSp modSp new mod">
        <pc:chgData name="Gopala Krishna Ediga" userId="a331a18b93734095" providerId="LiveId" clId="{986D341B-4579-400B-A1B3-16FDE44AE7E6}" dt="2025-09-23T11:38:52.195" v="177" actId="255"/>
        <pc:sldMkLst>
          <pc:docMk/>
          <pc:sldMk cId="49956952" sldId="271"/>
        </pc:sldMkLst>
        <pc:spChg chg="add mod">
          <ac:chgData name="Gopala Krishna Ediga" userId="a331a18b93734095" providerId="LiveId" clId="{986D341B-4579-400B-A1B3-16FDE44AE7E6}" dt="2025-09-23T11:38:52.195" v="177" actId="255"/>
          <ac:spMkLst>
            <pc:docMk/>
            <pc:sldMk cId="49956952" sldId="271"/>
            <ac:spMk id="3" creationId="{524C90F3-E441-9A4D-1616-2596C6F6607D}"/>
          </ac:spMkLst>
        </pc:spChg>
      </pc:sldChg>
      <pc:sldChg chg="addSp modSp new mod">
        <pc:chgData name="Gopala Krishna Ediga" userId="a331a18b93734095" providerId="LiveId" clId="{986D341B-4579-400B-A1B3-16FDE44AE7E6}" dt="2025-09-23T11:40:21.552" v="196" actId="20577"/>
        <pc:sldMkLst>
          <pc:docMk/>
          <pc:sldMk cId="3318297363" sldId="272"/>
        </pc:sldMkLst>
        <pc:spChg chg="add mod">
          <ac:chgData name="Gopala Krishna Ediga" userId="a331a18b93734095" providerId="LiveId" clId="{986D341B-4579-400B-A1B3-16FDE44AE7E6}" dt="2025-09-23T11:40:21.552" v="196" actId="20577"/>
          <ac:spMkLst>
            <pc:docMk/>
            <pc:sldMk cId="3318297363" sldId="272"/>
            <ac:spMk id="3" creationId="{FB16491B-9C09-9C08-4573-45A51FFAB3BE}"/>
          </ac:spMkLst>
        </pc:spChg>
      </pc:sldChg>
      <pc:sldChg chg="addSp modSp new mod">
        <pc:chgData name="Gopala Krishna Ediga" userId="a331a18b93734095" providerId="LiveId" clId="{986D341B-4579-400B-A1B3-16FDE44AE7E6}" dt="2025-09-23T11:40:54.907" v="200" actId="14100"/>
        <pc:sldMkLst>
          <pc:docMk/>
          <pc:sldMk cId="3878710788" sldId="273"/>
        </pc:sldMkLst>
        <pc:spChg chg="add mod">
          <ac:chgData name="Gopala Krishna Ediga" userId="a331a18b93734095" providerId="LiveId" clId="{986D341B-4579-400B-A1B3-16FDE44AE7E6}" dt="2025-09-23T11:40:54.907" v="200" actId="14100"/>
          <ac:spMkLst>
            <pc:docMk/>
            <pc:sldMk cId="3878710788" sldId="273"/>
            <ac:spMk id="3" creationId="{3DF07F6C-644E-10B7-25CF-BD23273BFBD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81B260-8933-32A3-8933-153E589189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99535" y="403123"/>
            <a:ext cx="7482349" cy="1425677"/>
          </a:xfrm>
        </p:spPr>
        <p:txBody>
          <a:bodyPr/>
          <a:lstStyle/>
          <a:p>
            <a:r>
              <a:rPr lang="en-IN" dirty="0"/>
              <a:t>Excel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CC2E2B-46E9-74BA-ED24-904B34DCC66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91501" y="1828800"/>
            <a:ext cx="7808997" cy="3318932"/>
          </a:xfrm>
        </p:spPr>
        <p:txBody>
          <a:bodyPr>
            <a:noAutofit/>
          </a:bodyPr>
          <a:lstStyle/>
          <a:p>
            <a:r>
              <a:rPr lang="en-US" sz="2000" dirty="0"/>
              <a:t>Insurance Analytics Dashboard – Built Using Excel</a:t>
            </a:r>
          </a:p>
          <a:p>
            <a:r>
              <a:rPr lang="en-US" sz="2000" dirty="0"/>
              <a:t>BY GROUP 4</a:t>
            </a:r>
          </a:p>
          <a:p>
            <a:r>
              <a:rPr lang="en-US" sz="2000" dirty="0"/>
              <a:t>1.EDIGA GOPALA KRISHNA</a:t>
            </a:r>
          </a:p>
          <a:p>
            <a:r>
              <a:rPr lang="en-US" sz="2000" dirty="0"/>
              <a:t>2.RAHUL KUMAR</a:t>
            </a:r>
          </a:p>
          <a:p>
            <a:r>
              <a:rPr lang="en-US" sz="2000" dirty="0"/>
              <a:t>3.ABIJEET GOSWAMI</a:t>
            </a:r>
          </a:p>
          <a:p>
            <a:r>
              <a:rPr lang="en-US" sz="2000" dirty="0"/>
              <a:t>4.PRIYANSHU AGARWAL</a:t>
            </a:r>
          </a:p>
          <a:p>
            <a:r>
              <a:rPr lang="en-US" sz="2000" dirty="0"/>
              <a:t>5.ALOK</a:t>
            </a:r>
          </a:p>
          <a:p>
            <a:r>
              <a:rPr lang="en-US" sz="2000" dirty="0"/>
              <a:t>6.SAKEENA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0077600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359384-8AA9-FD56-64B2-0B80F1FFAB13}"/>
              </a:ext>
            </a:extLst>
          </p:cNvPr>
          <p:cNvSpPr txBox="1"/>
          <p:nvPr/>
        </p:nvSpPr>
        <p:spPr>
          <a:xfrm>
            <a:off x="963561" y="1809135"/>
            <a:ext cx="9301316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Excel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Import and clean raw insurance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Create </a:t>
            </a:r>
            <a:r>
              <a:rPr lang="en-US" sz="3600" b="1" dirty="0"/>
              <a:t>pivot tables</a:t>
            </a:r>
            <a:r>
              <a:rPr lang="en-US" sz="3600" dirty="0"/>
              <a:t> and KPI formulas.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Build a complete dashboard with Excel charts.</a:t>
            </a:r>
          </a:p>
        </p:txBody>
      </p:sp>
    </p:spTree>
    <p:extLst>
      <p:ext uri="{BB962C8B-B14F-4D97-AF65-F5344CB8AC3E}">
        <p14:creationId xmlns:p14="http://schemas.microsoft.com/office/powerpoint/2010/main" val="2767182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7F9860-C724-B6DD-600A-14AF58137471}"/>
              </a:ext>
            </a:extLst>
          </p:cNvPr>
          <p:cNvSpPr txBox="1"/>
          <p:nvPr/>
        </p:nvSpPr>
        <p:spPr>
          <a:xfrm>
            <a:off x="727587" y="432619"/>
            <a:ext cx="8423787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200" b="1" dirty="0"/>
              <a:t>Excel Activities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Data Cleaning: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Remove blanks, duplicates.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KPI Formulas: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Cross Sell Ach % = </a:t>
            </a:r>
            <a:r>
              <a:rPr lang="en-US" sz="3200" dirty="0">
                <a:latin typeface="Courier New" panose="02070309020205020404" pitchFamily="49" charset="0"/>
              </a:rPr>
              <a:t>(Achievement / Target) * 100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Invoice Ach % = </a:t>
            </a:r>
            <a:r>
              <a:rPr lang="en-US" sz="3200" dirty="0">
                <a:latin typeface="Courier New" panose="02070309020205020404" pitchFamily="49" charset="0"/>
              </a:rPr>
              <a:t>(Invoice / Target) * 100</a:t>
            </a:r>
            <a:endParaRPr lang="en-US" sz="32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3200" b="1" dirty="0"/>
              <a:t>Pivot Tables:</a:t>
            </a:r>
            <a:endParaRPr lang="en-US" sz="32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Yearly meeting counts.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Opportunities by executive.</a:t>
            </a:r>
          </a:p>
        </p:txBody>
      </p:sp>
    </p:spTree>
    <p:extLst>
      <p:ext uri="{BB962C8B-B14F-4D97-AF65-F5344CB8AC3E}">
        <p14:creationId xmlns:p14="http://schemas.microsoft.com/office/powerpoint/2010/main" val="835182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DB9DE93-42D9-88E7-AA88-893401C7238C}"/>
              </a:ext>
            </a:extLst>
          </p:cNvPr>
          <p:cNvSpPr txBox="1"/>
          <p:nvPr/>
        </p:nvSpPr>
        <p:spPr>
          <a:xfrm>
            <a:off x="1042219" y="1130710"/>
            <a:ext cx="810915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Excel Dashboard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Charts used: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Bar Charts for KPIs.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Funnel chart for revenue stages.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Pie chart for product group opportunities.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Excel slicers to filter by </a:t>
            </a:r>
            <a:r>
              <a:rPr lang="en-US" sz="3600" b="1" dirty="0"/>
              <a:t>Employee Name</a:t>
            </a:r>
            <a:r>
              <a:rPr lang="en-US" sz="3600" dirty="0"/>
              <a:t> and </a:t>
            </a:r>
            <a:r>
              <a:rPr lang="en-US" sz="3600" b="1" dirty="0"/>
              <a:t>Year</a:t>
            </a:r>
            <a:r>
              <a:rPr lang="en-US" sz="3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245074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E1122C2-8BCD-1FEF-7E33-74E105086D45}"/>
              </a:ext>
            </a:extLst>
          </p:cNvPr>
          <p:cNvSpPr txBox="1"/>
          <p:nvPr/>
        </p:nvSpPr>
        <p:spPr>
          <a:xfrm>
            <a:off x="1130710" y="1406014"/>
            <a:ext cx="802066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Fast to set up and analyze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Easy to update and maintain.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Cost-effective with no extra tools required.</a:t>
            </a:r>
          </a:p>
        </p:txBody>
      </p:sp>
    </p:spTree>
    <p:extLst>
      <p:ext uri="{BB962C8B-B14F-4D97-AF65-F5344CB8AC3E}">
        <p14:creationId xmlns:p14="http://schemas.microsoft.com/office/powerpoint/2010/main" val="29297956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1DFE655-E9B4-F7DB-5B68-D1DDA0BF03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6027" y="280555"/>
            <a:ext cx="11035146" cy="5974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23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07C21-D0BC-19F9-D7B8-BBA46A2B44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0581" y="363795"/>
            <a:ext cx="7944464" cy="1297858"/>
          </a:xfrm>
        </p:spPr>
        <p:txBody>
          <a:bodyPr/>
          <a:lstStyle/>
          <a:p>
            <a:r>
              <a:rPr lang="en-IN" dirty="0"/>
              <a:t>Tableau Dashboard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D7D0F4-8B7B-06D4-7989-B3C5EEBB2BA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335" y="1838632"/>
            <a:ext cx="6224910" cy="2340078"/>
          </a:xfrm>
        </p:spPr>
        <p:txBody>
          <a:bodyPr>
            <a:normAutofit/>
          </a:bodyPr>
          <a:lstStyle/>
          <a:p>
            <a:r>
              <a:rPr lang="en-US" sz="3600" dirty="0"/>
              <a:t>Insurance Analytics Dashboard – Built Using Tableau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861011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421067-E685-5B3E-A0D2-12E7CFE7BC80}"/>
              </a:ext>
            </a:extLst>
          </p:cNvPr>
          <p:cNvSpPr txBox="1"/>
          <p:nvPr/>
        </p:nvSpPr>
        <p:spPr>
          <a:xfrm>
            <a:off x="1061884" y="1622323"/>
            <a:ext cx="808949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Tableau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Create </a:t>
            </a:r>
            <a:r>
              <a:rPr lang="en-US" sz="3600" b="1" dirty="0"/>
              <a:t>interactive dashboards</a:t>
            </a:r>
            <a:r>
              <a:rPr lang="en-US" sz="3600" dirty="0"/>
              <a:t> for insurance KPIs.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Visual storytelling to track policies and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7784941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48A35B-BE58-CC0B-F0F7-AB18BB5AE650}"/>
              </a:ext>
            </a:extLst>
          </p:cNvPr>
          <p:cNvSpPr txBox="1"/>
          <p:nvPr/>
        </p:nvSpPr>
        <p:spPr>
          <a:xfrm>
            <a:off x="816077" y="855406"/>
            <a:ext cx="8335297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Tableau Visuals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/>
              <a:t>Charts Built:</a:t>
            </a:r>
            <a:endParaRPr lang="en-U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Bar charts for Cross Sell, New, and Renewal.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Funnel chart for sales stage by revenue.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Pie chart for product group.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b="1" dirty="0"/>
              <a:t>Filters:</a:t>
            </a:r>
            <a:endParaRPr lang="en-US" sz="36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Employee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Year/Date Range</a:t>
            </a:r>
          </a:p>
        </p:txBody>
      </p:sp>
    </p:spTree>
    <p:extLst>
      <p:ext uri="{BB962C8B-B14F-4D97-AF65-F5344CB8AC3E}">
        <p14:creationId xmlns:p14="http://schemas.microsoft.com/office/powerpoint/2010/main" val="4091612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0096773-6C27-E9BB-6CAD-3B0F2B25FE7B}"/>
              </a:ext>
            </a:extLst>
          </p:cNvPr>
          <p:cNvSpPr txBox="1"/>
          <p:nvPr/>
        </p:nvSpPr>
        <p:spPr>
          <a:xfrm>
            <a:off x="511277" y="973393"/>
            <a:ext cx="7688826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Tableau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Easy drag-and-drop visualizations.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Live, interactive exploration of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Excellent for storytelling and presentations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69677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06861A-8434-1A39-A64C-C8ACCDBBCA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537" y="587086"/>
            <a:ext cx="11026926" cy="5683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3948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EA54E9-D834-5BFA-2CDB-91B5509719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668594"/>
            <a:ext cx="7766936" cy="1602658"/>
          </a:xfrm>
        </p:spPr>
        <p:txBody>
          <a:bodyPr/>
          <a:lstStyle/>
          <a:p>
            <a:r>
              <a:rPr lang="en-IN" dirty="0"/>
              <a:t>Power BI Dashboard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BB1B69-F485-3F7D-3FE6-0A8612818F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546555"/>
            <a:ext cx="7766936" cy="2601177"/>
          </a:xfrm>
        </p:spPr>
        <p:txBody>
          <a:bodyPr>
            <a:normAutofit/>
          </a:bodyPr>
          <a:lstStyle/>
          <a:p>
            <a:r>
              <a:rPr lang="en-US" sz="3600" dirty="0"/>
              <a:t>Insurance Analytics Dashboard – Built Using Power BI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2248725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7C3357B-A441-664B-BDE1-B93DD40CB5B0}"/>
              </a:ext>
            </a:extLst>
          </p:cNvPr>
          <p:cNvSpPr txBox="1"/>
          <p:nvPr/>
        </p:nvSpPr>
        <p:spPr>
          <a:xfrm>
            <a:off x="1258529" y="1474838"/>
            <a:ext cx="674492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Power BI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Automate KPI calculations using </a:t>
            </a:r>
            <a:r>
              <a:rPr lang="en-US" sz="3600" b="1" dirty="0"/>
              <a:t>DAX measures</a:t>
            </a:r>
            <a:r>
              <a:rPr lang="en-US" sz="3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Create interactive dashboard with filters and slicers.</a:t>
            </a:r>
          </a:p>
        </p:txBody>
      </p:sp>
    </p:spTree>
    <p:extLst>
      <p:ext uri="{BB962C8B-B14F-4D97-AF65-F5344CB8AC3E}">
        <p14:creationId xmlns:p14="http://schemas.microsoft.com/office/powerpoint/2010/main" val="40326552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10378B4-B592-15BE-CE5D-1E98F88B672F}"/>
              </a:ext>
            </a:extLst>
          </p:cNvPr>
          <p:cNvSpPr txBox="1"/>
          <p:nvPr/>
        </p:nvSpPr>
        <p:spPr>
          <a:xfrm>
            <a:off x="540774" y="285136"/>
            <a:ext cx="8610600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Power BI Features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b="1" dirty="0"/>
              <a:t>DAX Measures:</a:t>
            </a:r>
            <a:endParaRPr lang="en-US" sz="2800" dirty="0"/>
          </a:p>
          <a:p>
            <a:pPr rtl="0">
              <a:buFont typeface="Arial" panose="020B0604020202020204" pitchFamily="34" charset="0"/>
              <a:buChar char="•"/>
            </a:pPr>
            <a:r>
              <a:rPr lang="en-US" sz="2800" dirty="0">
                <a:latin typeface="Courier New" panose="02070309020205020404" pitchFamily="49" charset="0"/>
              </a:rPr>
              <a:t>Achievement % = DIVIDE(SUM(Achievement), SUM(Target)) * 100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Slicers: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Employee Name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Year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Visuals: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KPI cards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Bar chart: Top 5 opportunities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Funnel chart for sales stages</a:t>
            </a:r>
          </a:p>
        </p:txBody>
      </p:sp>
    </p:spTree>
    <p:extLst>
      <p:ext uri="{BB962C8B-B14F-4D97-AF65-F5344CB8AC3E}">
        <p14:creationId xmlns:p14="http://schemas.microsoft.com/office/powerpoint/2010/main" val="25726056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D240D57-FCDE-C42D-0BCE-0D1D4B7E24D7}"/>
              </a:ext>
            </a:extLst>
          </p:cNvPr>
          <p:cNvSpPr txBox="1"/>
          <p:nvPr/>
        </p:nvSpPr>
        <p:spPr>
          <a:xfrm>
            <a:off x="688258" y="1435510"/>
            <a:ext cx="8463116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Easy to maintain and scale.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Real-time reporting.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Ideal for leadership decision-making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8600997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530999-C7BF-3482-8C92-63F850905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776" y="469086"/>
            <a:ext cx="11287433" cy="5919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02922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314856-8DE2-C865-0438-19E8FD650A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07067" y="521110"/>
            <a:ext cx="7766936" cy="2064774"/>
          </a:xfrm>
        </p:spPr>
        <p:txBody>
          <a:bodyPr/>
          <a:lstStyle/>
          <a:p>
            <a:r>
              <a:rPr lang="en-US" dirty="0"/>
              <a:t>Insurance Analytics – Built Using SQL QUERIES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A2D73A6-45D8-50E6-00BE-8AA866E2EB5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07067" y="2772697"/>
            <a:ext cx="7766936" cy="1877961"/>
          </a:xfrm>
        </p:spPr>
        <p:txBody>
          <a:bodyPr>
            <a:noAutofit/>
          </a:bodyPr>
          <a:lstStyle/>
          <a:p>
            <a:r>
              <a:rPr lang="en-US" sz="3600" dirty="0"/>
              <a:t>Goal: Create the dashboard entirely using SQL queries and views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13610815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07B0E0B-C6CF-327A-5C04-637E3D26B23A}"/>
              </a:ext>
            </a:extLst>
          </p:cNvPr>
          <p:cNvSpPr txBox="1"/>
          <p:nvPr/>
        </p:nvSpPr>
        <p:spPr>
          <a:xfrm>
            <a:off x="796413" y="727587"/>
            <a:ext cx="8354961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SQL Objectives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Extract raw data from multiple tables: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Policy, Customer, Revenue, Employees.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Perform </a:t>
            </a:r>
            <a:r>
              <a:rPr lang="en-US" sz="3600" b="1" dirty="0"/>
              <a:t>KPI calculations</a:t>
            </a:r>
            <a:r>
              <a:rPr lang="en-US" sz="36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Cross Sell %, Renewal %, Invoice %.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Identify </a:t>
            </a:r>
            <a:r>
              <a:rPr lang="en-US" sz="3600" b="1" dirty="0"/>
              <a:t>top opportunities</a:t>
            </a:r>
            <a:r>
              <a:rPr lang="en-US" sz="3600" dirty="0"/>
              <a:t> by revenue.</a:t>
            </a:r>
          </a:p>
        </p:txBody>
      </p:sp>
    </p:spTree>
    <p:extLst>
      <p:ext uri="{BB962C8B-B14F-4D97-AF65-F5344CB8AC3E}">
        <p14:creationId xmlns:p14="http://schemas.microsoft.com/office/powerpoint/2010/main" val="391693412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24C90F3-E441-9A4D-1616-2596C6F6607D}"/>
              </a:ext>
            </a:extLst>
          </p:cNvPr>
          <p:cNvSpPr txBox="1"/>
          <p:nvPr/>
        </p:nvSpPr>
        <p:spPr>
          <a:xfrm>
            <a:off x="1091381" y="983226"/>
            <a:ext cx="8059993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800" b="1" dirty="0"/>
              <a:t>SQL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Created </a:t>
            </a:r>
            <a:r>
              <a:rPr lang="en-US" sz="2800" b="1" dirty="0"/>
              <a:t>tables &amp; views</a:t>
            </a:r>
            <a:r>
              <a:rPr lang="en-US" sz="2800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Opportunities 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Meetings table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800" dirty="0"/>
              <a:t>Renewal tracking table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/>
              <a:t>Sample KPI query: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SELECT </a:t>
            </a:r>
            <a:r>
              <a:rPr lang="en-US" sz="2800" dirty="0" err="1">
                <a:latin typeface="Courier New" panose="02070309020205020404" pitchFamily="49" charset="0"/>
              </a:rPr>
              <a:t>policy_type</a:t>
            </a:r>
            <a:r>
              <a:rPr lang="en-US" sz="2800" dirty="0">
                <a:latin typeface="Courier New" panose="02070309020205020404" pitchFamily="49" charset="0"/>
              </a:rPr>
              <a:t>, </a:t>
            </a:r>
          </a:p>
          <a:p>
            <a:r>
              <a:rPr lang="en-US" sz="2800" dirty="0">
                <a:latin typeface="Courier New" panose="02070309020205020404" pitchFamily="49" charset="0"/>
              </a:rPr>
              <a:t>       SUM(achievement)/SUM(target)*100 AS </a:t>
            </a:r>
            <a:r>
              <a:rPr lang="en-US" sz="2800" dirty="0" err="1">
                <a:latin typeface="Courier New" panose="02070309020205020404" pitchFamily="49" charset="0"/>
              </a:rPr>
              <a:t>Achievement_Percent</a:t>
            </a:r>
            <a:endParaRPr lang="en-US" sz="2800" dirty="0">
              <a:latin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</a:rPr>
              <a:t>FROM </a:t>
            </a:r>
            <a:r>
              <a:rPr lang="en-US" sz="2800" dirty="0" err="1">
                <a:latin typeface="Courier New" panose="02070309020205020404" pitchFamily="49" charset="0"/>
              </a:rPr>
              <a:t>insurance_data</a:t>
            </a:r>
            <a:endParaRPr lang="en-US" sz="2800" dirty="0">
              <a:latin typeface="Courier New" panose="02070309020205020404" pitchFamily="49" charset="0"/>
            </a:endParaRPr>
          </a:p>
          <a:p>
            <a:r>
              <a:rPr lang="en-US" sz="2800" dirty="0">
                <a:latin typeface="Courier New" panose="02070309020205020404" pitchFamily="49" charset="0"/>
              </a:rPr>
              <a:t>GROUP BY </a:t>
            </a:r>
            <a:r>
              <a:rPr lang="en-US" sz="2800" dirty="0" err="1">
                <a:latin typeface="Courier New" panose="02070309020205020404" pitchFamily="49" charset="0"/>
              </a:rPr>
              <a:t>policy_type</a:t>
            </a:r>
            <a:r>
              <a:rPr lang="en-US" sz="2800" dirty="0">
                <a:latin typeface="Courier New" panose="02070309020205020404" pitchFamily="49" charset="0"/>
              </a:rPr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4995695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16491B-9C09-9C08-4573-45A51FFAB3BE}"/>
              </a:ext>
            </a:extLst>
          </p:cNvPr>
          <p:cNvSpPr txBox="1"/>
          <p:nvPr/>
        </p:nvSpPr>
        <p:spPr>
          <a:xfrm>
            <a:off x="816077" y="1386348"/>
            <a:ext cx="8335297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SQ Output: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Used only SQL tools: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SQL queries generate reports.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600" dirty="0"/>
              <a:t>Exported results as tables.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Data presented via SQL Server reporting.</a:t>
            </a:r>
          </a:p>
        </p:txBody>
      </p:sp>
    </p:spTree>
    <p:extLst>
      <p:ext uri="{BB962C8B-B14F-4D97-AF65-F5344CB8AC3E}">
        <p14:creationId xmlns:p14="http://schemas.microsoft.com/office/powerpoint/2010/main" val="331829736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F07F6C-644E-10B7-25CF-BD23273BFBD9}"/>
              </a:ext>
            </a:extLst>
          </p:cNvPr>
          <p:cNvSpPr txBox="1"/>
          <p:nvPr/>
        </p:nvSpPr>
        <p:spPr>
          <a:xfrm>
            <a:off x="1071716" y="1612490"/>
            <a:ext cx="8079658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3600" b="1" dirty="0"/>
              <a:t>Key Benefits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Single source of truth.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High performance for large datasets.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3600" dirty="0"/>
              <a:t>Automates calculations with scheduled queries.</a:t>
            </a:r>
          </a:p>
        </p:txBody>
      </p:sp>
    </p:spTree>
    <p:extLst>
      <p:ext uri="{BB962C8B-B14F-4D97-AF65-F5344CB8AC3E}">
        <p14:creationId xmlns:p14="http://schemas.microsoft.com/office/powerpoint/2010/main" val="3878710788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30</TotalTime>
  <Words>472</Words>
  <Application>Microsoft Office PowerPoint</Application>
  <PresentationFormat>Widescreen</PresentationFormat>
  <Paragraphs>95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Courier New</vt:lpstr>
      <vt:lpstr>Trebuchet MS</vt:lpstr>
      <vt:lpstr>Wingdings 3</vt:lpstr>
      <vt:lpstr>Facet</vt:lpstr>
      <vt:lpstr>Excel Dashboard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Tableau Dashboard</vt:lpstr>
      <vt:lpstr>PowerPoint Presentation</vt:lpstr>
      <vt:lpstr>PowerPoint Presentation</vt:lpstr>
      <vt:lpstr>PowerPoint Presentation</vt:lpstr>
      <vt:lpstr>PowerPoint Presentation</vt:lpstr>
      <vt:lpstr>Power BI Dashboard</vt:lpstr>
      <vt:lpstr>PowerPoint Presentation</vt:lpstr>
      <vt:lpstr>PowerPoint Presentation</vt:lpstr>
      <vt:lpstr>PowerPoint Presentation</vt:lpstr>
      <vt:lpstr>PowerPoint Presentation</vt:lpstr>
      <vt:lpstr>Insurance Analytics – Built Using SQL QUERIES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Gopala Krishna Ediga</dc:creator>
  <cp:lastModifiedBy>Abhi Goswami</cp:lastModifiedBy>
  <cp:revision>2</cp:revision>
  <dcterms:created xsi:type="dcterms:W3CDTF">2025-09-23T11:13:58Z</dcterms:created>
  <dcterms:modified xsi:type="dcterms:W3CDTF">2025-09-24T04:56:20Z</dcterms:modified>
</cp:coreProperties>
</file>